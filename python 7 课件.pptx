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8"/>
  </p:notesMasterIdLst>
  <p:sldIdLst>
    <p:sldId id="256" r:id="rId2"/>
    <p:sldId id="328" r:id="rId3"/>
    <p:sldId id="386" r:id="rId4"/>
    <p:sldId id="387" r:id="rId5"/>
    <p:sldId id="388" r:id="rId6"/>
    <p:sldId id="389" r:id="rId7"/>
    <p:sldId id="390" r:id="rId8"/>
    <p:sldId id="345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</p:sldIdLst>
  <p:sldSz cx="9144000" cy="5143500" type="screen16x9"/>
  <p:notesSz cx="6858000" cy="9144000"/>
  <p:embeddedFontLst>
    <p:embeddedFont>
      <p:font typeface="Didact Gothic" panose="02010600030101010101" charset="0"/>
      <p:regular r:id="rId19"/>
    </p:embeddedFont>
    <p:embeddedFont>
      <p:font typeface="Amatic SC" panose="02010600030101010101" charset="-79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76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1931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241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171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441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1256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7363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5399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2589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204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0047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9827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1570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</a:t>
            </a:r>
            <a:r>
              <a:rPr lang="en" sz="3200" dirty="0" smtClean="0"/>
              <a:t>9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(Variables)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Data Types &amp; </a:t>
            </a:r>
            <a:r>
              <a:rPr lang="en-US" altLang="zh-CN" sz="1800" dirty="0" smtClean="0">
                <a:solidFill>
                  <a:schemeClr val="tx1"/>
                </a:solidFill>
              </a:rPr>
              <a:t>Variables: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Strings </a:t>
            </a:r>
            <a:r>
              <a:rPr lang="en-US" altLang="zh-CN" sz="1800" dirty="0">
                <a:solidFill>
                  <a:schemeClr val="tx1"/>
                </a:solidFill>
              </a:rPr>
              <a:t>(text), Integers (whole numbers), Floats (decimals), Booleans (True/False</a:t>
            </a:r>
            <a:r>
              <a:rPr lang="en-US" altLang="zh-CN" sz="1800" dirty="0" smtClean="0">
                <a:solidFill>
                  <a:schemeClr val="tx1"/>
                </a:solidFill>
              </a:rPr>
              <a:t>).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Type </a:t>
            </a:r>
            <a:r>
              <a:rPr lang="en-US" altLang="zh-CN" sz="1800" dirty="0">
                <a:solidFill>
                  <a:schemeClr val="tx1"/>
                </a:solidFill>
              </a:rPr>
              <a:t>conversion (e.g., </a:t>
            </a:r>
            <a:r>
              <a:rPr lang="en-US" altLang="zh-CN" sz="1800" dirty="0" err="1">
                <a:solidFill>
                  <a:schemeClr val="tx1"/>
                </a:solidFill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</a:rPr>
              <a:t>(), </a:t>
            </a:r>
            <a:r>
              <a:rPr lang="en-US" altLang="zh-CN" sz="1800" dirty="0" err="1">
                <a:solidFill>
                  <a:schemeClr val="tx1"/>
                </a:solidFill>
              </a:rPr>
              <a:t>str</a:t>
            </a:r>
            <a:r>
              <a:rPr lang="en-US" altLang="zh-CN" sz="1800" dirty="0" smtClean="0">
                <a:solidFill>
                  <a:schemeClr val="tx1"/>
                </a:solidFill>
              </a:rPr>
              <a:t>())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User input </a:t>
            </a:r>
            <a:r>
              <a:rPr lang="en-US" altLang="zh-CN" sz="1800" dirty="0">
                <a:solidFill>
                  <a:schemeClr val="tx1"/>
                </a:solidFill>
              </a:rPr>
              <a:t>with input</a:t>
            </a:r>
            <a:r>
              <a:rPr lang="en-US" altLang="zh-CN" sz="1800" dirty="0" smtClean="0">
                <a:solidFill>
                  <a:schemeClr val="tx1"/>
                </a:solidFill>
              </a:rPr>
              <a:t>()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Lists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(lists)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Lists: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0-based </a:t>
            </a:r>
            <a:r>
              <a:rPr lang="en-AU" altLang="zh-CN" sz="1800" dirty="0">
                <a:solidFill>
                  <a:schemeClr val="tx1"/>
                </a:solidFill>
              </a:rPr>
              <a:t>indexing: first item is list[0</a:t>
            </a:r>
            <a:r>
              <a:rPr lang="en-AU" altLang="zh-CN" sz="1800" dirty="0" smtClean="0">
                <a:solidFill>
                  <a:schemeClr val="tx1"/>
                </a:solidFill>
              </a:rPr>
              <a:t>].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Access/modify </a:t>
            </a:r>
            <a:r>
              <a:rPr lang="en-AU" altLang="zh-CN" sz="1800" dirty="0">
                <a:solidFill>
                  <a:schemeClr val="tx1"/>
                </a:solidFill>
              </a:rPr>
              <a:t>elements: names[n</a:t>
            </a:r>
            <a:r>
              <a:rPr lang="en-AU" altLang="zh-CN" sz="1800" dirty="0" smtClean="0">
                <a:solidFill>
                  <a:schemeClr val="tx1"/>
                </a:solidFill>
              </a:rPr>
              <a:t>].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Operations</a:t>
            </a:r>
            <a:r>
              <a:rPr lang="en-AU" altLang="zh-CN" sz="1800" dirty="0">
                <a:solidFill>
                  <a:schemeClr val="tx1"/>
                </a:solidFill>
              </a:rPr>
              <a:t>: append, remove, etc</a:t>
            </a:r>
            <a:r>
              <a:rPr lang="en-AU" altLang="zh-CN" sz="1800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Lists </a:t>
            </a:r>
            <a:r>
              <a:rPr lang="en-AU" altLang="zh-CN" sz="1800" dirty="0">
                <a:solidFill>
                  <a:schemeClr val="tx1"/>
                </a:solidFill>
              </a:rPr>
              <a:t>can store mixed types.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(Loops)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AU" altLang="zh-CN" sz="1800" dirty="0">
                <a:solidFill>
                  <a:schemeClr val="tx1"/>
                </a:solidFill>
              </a:rPr>
              <a:t>For loops: </a:t>
            </a:r>
            <a:r>
              <a:rPr lang="en-AU" altLang="zh-CN" sz="1800" dirty="0" smtClean="0">
                <a:solidFill>
                  <a:schemeClr val="tx1"/>
                </a:solidFill>
              </a:rPr>
              <a:t>for </a:t>
            </a:r>
            <a:r>
              <a:rPr lang="en-AU" altLang="zh-CN" sz="1800" dirty="0">
                <a:solidFill>
                  <a:schemeClr val="tx1"/>
                </a:solidFill>
              </a:rPr>
              <a:t>x in range(n): </a:t>
            </a:r>
            <a:endParaRPr lang="en-AU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— </a:t>
            </a:r>
            <a:r>
              <a:rPr lang="en-AU" altLang="zh-CN" sz="1800" dirty="0">
                <a:solidFill>
                  <a:schemeClr val="tx1"/>
                </a:solidFill>
              </a:rPr>
              <a:t>repeats code a fixed number of times</a:t>
            </a:r>
            <a:r>
              <a:rPr lang="en-AU" altLang="zh-CN" sz="18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While </a:t>
            </a:r>
            <a:r>
              <a:rPr lang="en-AU" altLang="zh-CN" sz="1800" dirty="0">
                <a:solidFill>
                  <a:schemeClr val="tx1"/>
                </a:solidFill>
              </a:rPr>
              <a:t>loops: while condition: </a:t>
            </a:r>
            <a:endParaRPr lang="en-AU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— </a:t>
            </a:r>
            <a:r>
              <a:rPr lang="en-AU" altLang="zh-CN" sz="1800" dirty="0">
                <a:solidFill>
                  <a:schemeClr val="tx1"/>
                </a:solidFill>
              </a:rPr>
              <a:t>repeats as long as the condition is True. </a:t>
            </a:r>
            <a:endParaRPr lang="en-AU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Indentation (tab) </a:t>
            </a:r>
            <a:r>
              <a:rPr lang="en-AU" altLang="zh-CN" sz="1800" dirty="0">
                <a:solidFill>
                  <a:schemeClr val="tx1"/>
                </a:solidFill>
              </a:rPr>
              <a:t>is </a:t>
            </a:r>
            <a:r>
              <a:rPr lang="en-AU" altLang="zh-CN" sz="1800" dirty="0" smtClean="0">
                <a:solidFill>
                  <a:schemeClr val="tx1"/>
                </a:solidFill>
              </a:rPr>
              <a:t>important.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(If statements)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AU" altLang="zh-CN" sz="1800" dirty="0" smtClean="0">
                <a:solidFill>
                  <a:schemeClr val="tx1"/>
                </a:solidFill>
              </a:rPr>
              <a:t>if condition: </a:t>
            </a:r>
          </a:p>
          <a:p>
            <a:pPr marL="0" lvl="0" indent="0" algn="l">
              <a:spcAft>
                <a:spcPts val="1200"/>
              </a:spcAft>
            </a:pPr>
            <a:r>
              <a:rPr lang="en-AU" altLang="zh-CN" sz="1800" dirty="0">
                <a:solidFill>
                  <a:schemeClr val="tx1"/>
                </a:solidFill>
              </a:rPr>
              <a:t>— Executes </a:t>
            </a:r>
            <a:r>
              <a:rPr lang="en-AU" altLang="zh-CN" sz="1800" dirty="0" smtClean="0">
                <a:solidFill>
                  <a:schemeClr val="tx1"/>
                </a:solidFill>
              </a:rPr>
              <a:t>code if condition is true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>
                <a:solidFill>
                  <a:schemeClr val="tx1"/>
                </a:solidFill>
              </a:rPr>
              <a:t>if, </a:t>
            </a:r>
            <a:r>
              <a:rPr lang="en-AU" altLang="zh-CN" sz="1800" dirty="0" err="1">
                <a:solidFill>
                  <a:schemeClr val="tx1"/>
                </a:solidFill>
              </a:rPr>
              <a:t>elif</a:t>
            </a:r>
            <a:r>
              <a:rPr lang="en-AU" altLang="zh-CN" sz="1800" dirty="0">
                <a:solidFill>
                  <a:schemeClr val="tx1"/>
                </a:solidFill>
              </a:rPr>
              <a:t>, else</a:t>
            </a:r>
            <a:r>
              <a:rPr lang="en-AU" altLang="zh-CN" sz="1800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Comparison </a:t>
            </a:r>
            <a:r>
              <a:rPr lang="en-AU" altLang="zh-CN" sz="1800" dirty="0">
                <a:solidFill>
                  <a:schemeClr val="tx1"/>
                </a:solidFill>
              </a:rPr>
              <a:t>operators: ==, !=, &gt;, &lt;, &gt;=, </a:t>
            </a:r>
            <a:r>
              <a:rPr lang="en-AU" altLang="zh-CN" sz="1800" dirty="0" smtClean="0">
                <a:solidFill>
                  <a:schemeClr val="tx1"/>
                </a:solidFill>
              </a:rPr>
              <a:t>&lt;=.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Logical </a:t>
            </a:r>
            <a:r>
              <a:rPr lang="en-AU" altLang="zh-CN" sz="1800" dirty="0">
                <a:solidFill>
                  <a:schemeClr val="tx1"/>
                </a:solidFill>
              </a:rPr>
              <a:t>operators: and, </a:t>
            </a:r>
            <a:r>
              <a:rPr lang="en-AU" altLang="zh-CN" sz="1800" dirty="0" smtClean="0">
                <a:solidFill>
                  <a:schemeClr val="tx1"/>
                </a:solidFill>
              </a:rPr>
              <a:t>or</a:t>
            </a:r>
          </a:p>
          <a:p>
            <a:pPr marL="285750" lvl="0" indent="-285750" algn="l">
              <a:spcAft>
                <a:spcPts val="1200"/>
              </a:spcAft>
              <a:buFontTx/>
              <a:buChar char="-"/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47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(Random)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</a:rPr>
              <a:t>import </a:t>
            </a:r>
            <a:r>
              <a:rPr lang="en-US" altLang="zh-CN" sz="1800" dirty="0" smtClean="0">
                <a:solidFill>
                  <a:schemeClr val="tx1"/>
                </a:solidFill>
              </a:rPr>
              <a:t>random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solidFill>
                  <a:schemeClr val="tx1"/>
                </a:solidFill>
              </a:rPr>
              <a:t>random.randint</a:t>
            </a:r>
            <a:r>
              <a:rPr lang="en-US" altLang="zh-CN" sz="1800" dirty="0" smtClean="0">
                <a:solidFill>
                  <a:schemeClr val="tx1"/>
                </a:solidFill>
              </a:rPr>
              <a:t>(a</a:t>
            </a:r>
            <a:r>
              <a:rPr lang="en-US" altLang="zh-CN" sz="1800" dirty="0">
                <a:solidFill>
                  <a:schemeClr val="tx1"/>
                </a:solidFill>
              </a:rPr>
              <a:t>, b) — random integer in range (inclusive</a:t>
            </a:r>
            <a:r>
              <a:rPr lang="en-US" altLang="zh-CN" sz="1800" dirty="0" smtClean="0">
                <a:solidFill>
                  <a:schemeClr val="tx1"/>
                </a:solidFill>
              </a:rPr>
              <a:t>).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solidFill>
                  <a:schemeClr val="tx1"/>
                </a:solidFill>
              </a:rPr>
              <a:t>random.choice</a:t>
            </a:r>
            <a:r>
              <a:rPr lang="en-US" altLang="zh-CN" sz="1800" dirty="0" smtClean="0">
                <a:solidFill>
                  <a:schemeClr val="tx1"/>
                </a:solidFill>
              </a:rPr>
              <a:t>(list</a:t>
            </a:r>
            <a:r>
              <a:rPr lang="en-US" altLang="zh-CN" sz="1800" dirty="0">
                <a:solidFill>
                  <a:schemeClr val="tx1"/>
                </a:solidFill>
              </a:rPr>
              <a:t>) — pick random item from a list</a:t>
            </a:r>
            <a:r>
              <a:rPr lang="en-US" altLang="zh-CN" sz="1800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chemeClr val="tx1"/>
                </a:solidFill>
              </a:rPr>
              <a:t>Useful </a:t>
            </a:r>
            <a:r>
              <a:rPr lang="en-US" altLang="zh-CN" sz="1800" dirty="0">
                <a:solidFill>
                  <a:schemeClr val="tx1"/>
                </a:solidFill>
              </a:rPr>
              <a:t>for games (dice, coin flips).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76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Review (Functions)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err="1">
                <a:solidFill>
                  <a:schemeClr val="tx1"/>
                </a:solidFill>
              </a:rPr>
              <a:t>def</a:t>
            </a:r>
            <a:r>
              <a:rPr lang="en-AU" altLang="zh-CN" sz="1800" dirty="0">
                <a:solidFill>
                  <a:schemeClr val="tx1"/>
                </a:solidFill>
              </a:rPr>
              <a:t> </a:t>
            </a:r>
            <a:r>
              <a:rPr lang="en-AU" altLang="zh-CN" sz="1800" dirty="0" err="1">
                <a:solidFill>
                  <a:schemeClr val="tx1"/>
                </a:solidFill>
              </a:rPr>
              <a:t>function_name</a:t>
            </a:r>
            <a:r>
              <a:rPr lang="en-AU" altLang="zh-CN" sz="1800" dirty="0">
                <a:solidFill>
                  <a:schemeClr val="tx1"/>
                </a:solidFill>
              </a:rPr>
              <a:t>(): — reusable blocks of code</a:t>
            </a:r>
            <a:r>
              <a:rPr lang="en-AU" altLang="zh-CN" sz="1800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zh-CN" sz="1800" dirty="0" smtClean="0">
                <a:solidFill>
                  <a:schemeClr val="tx1"/>
                </a:solidFill>
              </a:rPr>
              <a:t>Calling </a:t>
            </a:r>
            <a:r>
              <a:rPr lang="en-AU" altLang="zh-CN" sz="1800" dirty="0">
                <a:solidFill>
                  <a:schemeClr val="tx1"/>
                </a:solidFill>
              </a:rPr>
              <a:t>functions: </a:t>
            </a:r>
            <a:r>
              <a:rPr lang="en-AU" altLang="zh-CN" sz="1800" dirty="0" err="1">
                <a:solidFill>
                  <a:schemeClr val="tx1"/>
                </a:solidFill>
              </a:rPr>
              <a:t>function_name</a:t>
            </a:r>
            <a:r>
              <a:rPr lang="en-AU" altLang="zh-CN" sz="1800" dirty="0">
                <a:solidFill>
                  <a:schemeClr val="tx1"/>
                </a:solidFill>
              </a:rPr>
              <a:t>().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68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</a:t>
            </a:r>
            <a:endParaRPr lang="en-AU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00" y="1060594"/>
            <a:ext cx="4192164" cy="325751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09226" y="3944413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140" y="1020144"/>
            <a:ext cx="4000483" cy="328341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293169" y="3944413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9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</a:t>
            </a:r>
            <a:endParaRPr lang="en-AU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22" y="1020144"/>
            <a:ext cx="6820243" cy="17066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66416" y="2388708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51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</a:t>
            </a:r>
            <a:endParaRPr lang="en-AU" sz="4800" dirty="0"/>
          </a:p>
        </p:txBody>
      </p:sp>
      <p:sp>
        <p:nvSpPr>
          <p:cNvPr id="12" name="Rectangle 11"/>
          <p:cNvSpPr/>
          <p:nvPr/>
        </p:nvSpPr>
        <p:spPr>
          <a:xfrm>
            <a:off x="4762770" y="4095293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81" y="1140977"/>
            <a:ext cx="7780229" cy="2802695"/>
          </a:xfrm>
          <a:prstGeom prst="rect">
            <a:avLst/>
          </a:prstGeom>
        </p:spPr>
      </p:pic>
      <p:sp>
        <p:nvSpPr>
          <p:cNvPr id="7" name="Google Shape;2972;p67"/>
          <p:cNvSpPr txBox="1">
            <a:spLocks/>
          </p:cNvSpPr>
          <p:nvPr/>
        </p:nvSpPr>
        <p:spPr>
          <a:xfrm>
            <a:off x="3819440" y="3943672"/>
            <a:ext cx="1294413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2400" dirty="0" smtClean="0"/>
              <a:t>Answer: 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2661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1807244" y="171058"/>
            <a:ext cx="5955737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/>
              <a:t>Quizzes (A  lot more ahead)</a:t>
            </a:r>
          </a:p>
          <a:p>
            <a:endParaRPr lang="en-AU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21" y="1245695"/>
            <a:ext cx="4277322" cy="261974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66416" y="3404912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631" y="1561787"/>
            <a:ext cx="4332386" cy="20688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3764" y="3244829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05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97" y="1253944"/>
            <a:ext cx="7743623" cy="28990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82" y="1444404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</a:t>
            </a:r>
            <a:endParaRPr lang="en-AU" sz="4800" dirty="0"/>
          </a:p>
        </p:txBody>
      </p:sp>
      <p:sp>
        <p:nvSpPr>
          <p:cNvPr id="12" name="Rectangle 11"/>
          <p:cNvSpPr/>
          <p:nvPr/>
        </p:nvSpPr>
        <p:spPr>
          <a:xfrm>
            <a:off x="1097078" y="3793330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82" y="1721041"/>
            <a:ext cx="4572638" cy="27054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4432" y="3888344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23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52" y="1436312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254300" y="109350"/>
            <a:ext cx="5421769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</a:t>
            </a:r>
            <a:endParaRPr lang="en-AU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09" y="973992"/>
            <a:ext cx="6368599" cy="18566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152" y="2436204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691" y="2757688"/>
            <a:ext cx="4448935" cy="20550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86418" y="4361357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91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52" y="1436312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335219" y="111212"/>
            <a:ext cx="4721035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 (2 more slides)</a:t>
            </a:r>
            <a:endParaRPr lang="en-AU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05" y="943452"/>
            <a:ext cx="2790341" cy="368610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41964" y="4178133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639" y="943452"/>
            <a:ext cx="4084239" cy="37159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74211" y="4232735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00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52" y="1436312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769586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 (1 more slide)</a:t>
            </a:r>
            <a:endParaRPr lang="en-AU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09" y="1530581"/>
            <a:ext cx="4477687" cy="21355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54" y="1530581"/>
            <a:ext cx="4217852" cy="22224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95581" y="3214670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5403210" y="3282188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836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152" y="1436312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068182" y="143941"/>
            <a:ext cx="5659711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Quizzes (last slide for quizzes)</a:t>
            </a:r>
            <a:endParaRPr lang="en-AU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0" y="1690226"/>
            <a:ext cx="4362374" cy="190319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76139" y="3221818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54" y="1579633"/>
            <a:ext cx="3860249" cy="212437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03210" y="3282188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46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251</Words>
  <Application>Microsoft Office PowerPoint</Application>
  <PresentationFormat>On-screen Show (16:9)</PresentationFormat>
  <Paragraphs>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Didact Gothic</vt:lpstr>
      <vt:lpstr>Arial</vt:lpstr>
      <vt:lpstr>Amatic SC</vt:lpstr>
      <vt:lpstr>Giant Doodles Newsletter by Slidesgo</vt:lpstr>
      <vt:lpstr>Python week 9</vt:lpstr>
      <vt:lpstr>Review (Variables)</vt:lpstr>
      <vt:lpstr>Review (lists)</vt:lpstr>
      <vt:lpstr>Review (Loops)</vt:lpstr>
      <vt:lpstr>Review (If statements)</vt:lpstr>
      <vt:lpstr>Review (Random)</vt:lpstr>
      <vt:lpstr>Review (Functions)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72</cp:revision>
  <dcterms:modified xsi:type="dcterms:W3CDTF">2026-06-26T11:24:36Z</dcterms:modified>
</cp:coreProperties>
</file>